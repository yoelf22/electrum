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ChillStream</a:t>
            </a:r>
          </a:p>
          <a:p>
            <a:pPr algn="l">
              <a:spcBef>
                <a:spcPts val="1200"/>
              </a:spcBef>
              <a:spcAft>
                <a:spcPts val="200"/>
              </a:spcAft>
              <a:defRPr sz="2800" b="0">
                <a:solidFill>
                  <a:srgbClr val="00D4AA"/>
                </a:solidFill>
                <a:latin typeface="Calibri"/>
              </a:defRPr>
            </a:pPr>
            <a:r>
              <a:t>Phase-Change Thermal Battery Water Dispenser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BBCC"/>
                </a:solidFill>
                <a:latin typeface="Calibri"/>
              </a:defRPr>
            </a:pPr>
            <a:r>
              <a:t>Cold water for the 50th person in line — not just the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943600"/>
            <a:ext cx="12191695" cy="4572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Executive Overview  •  Product Investment Proposal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384048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Water coolers fail at the moment of peak demand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BBBBCC"/>
                </a:solidFill>
                <a:latin typeface="Calibri"/>
              </a:defRPr>
            </a:pPr>
            <a:r>
              <a:t>School lunch bell rings — 60 students, 5 minutes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BBBBCC"/>
                </a:solidFill>
                <a:latin typeface="Calibri"/>
              </a:defRPr>
            </a:pPr>
            <a:r>
              <a:t>Office break time — 30 people cluster at the cooler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BBBBCC"/>
                </a:solidFill>
                <a:latin typeface="Calibri"/>
              </a:defRPr>
            </a:pPr>
            <a:r>
              <a:t>Traditional cooler: 2-5L of pre-chilled water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BBBBCC"/>
                </a:solidFill>
                <a:latin typeface="Calibri"/>
              </a:defRPr>
            </a:pPr>
            <a:r>
              <a:t>After 10-15 pours, reservoir is depleted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BBBBCC"/>
                </a:solidFill>
                <a:latin typeface="Calibri"/>
              </a:defRPr>
            </a:pPr>
            <a:r>
              <a:t>Incoming mains water at 25°C mixes with remaining cold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700" b="0">
                <a:solidFill>
                  <a:srgbClr val="BBBBCC"/>
                </a:solidFill>
                <a:latin typeface="Calibri"/>
              </a:defRPr>
            </a:pPr>
            <a:r>
              <a:t>Recovery time: 20-40 minutes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The first users get cold water.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2000" b="1">
                <a:solidFill>
                  <a:srgbClr val="FF4545"/>
                </a:solidFill>
                <a:latin typeface="Calibri"/>
              </a:defRPr>
            </a:pPr>
            <a:r>
              <a:t>Everyone else gets lukewarm.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463040"/>
            <a:ext cx="438912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6002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8C00"/>
                </a:solidFill>
                <a:latin typeface="Calibri"/>
              </a:defRPr>
            </a:pPr>
            <a:r>
              <a:t>20-40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0574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Recovery time after peak demand depletes the reservoir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743200"/>
            <a:ext cx="438912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2880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8C00"/>
                </a:solidFill>
                <a:latin typeface="Calibri"/>
              </a:defRPr>
            </a:pPr>
            <a:r>
              <a:t>85%+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3375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Of pours during rush hour served above target temperature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4023360"/>
            <a:ext cx="4389120" cy="10515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160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8C00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617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Revenue from solving this — no product addresses peak demand in countertop form factor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Solution: Phase-Change Thermal Battery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00784"/>
            <a:ext cx="3291840" cy="3840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BF5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IDLE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Calibri"/>
              </a:defRPr>
            </a:pPr>
            <a:r>
              <a:t>Compressor freezes PCM coating</a:t>
            </a:r>
            <a:br/>
            <a:r>
              <a:t>on submerged HX plates to -5°C.</a:t>
            </a:r>
            <a:br/>
            <a:r>
              <a:t>Cold energy stored as latent heat.</a:t>
            </a:r>
            <a:br/>
            <a:r>
              <a:t>No water movement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645920"/>
            <a:ext cx="32918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700784"/>
            <a:ext cx="3291840" cy="3840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D4AA"/>
                </a:solidFill>
                <a:latin typeface="Calibri"/>
              </a:defRPr>
            </a:pPr>
            <a:r>
              <a:t>Deliver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PEAK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9260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Calibri"/>
              </a:defRPr>
            </a:pPr>
            <a:r>
              <a:t>User opens tap. Mains pressure</a:t>
            </a:r>
            <a:br/>
            <a:r>
              <a:t>pushes water through PCM-coated</a:t>
            </a:r>
            <a:br/>
            <a:r>
              <a:t>plates. Water chills from 25°C to</a:t>
            </a:r>
            <a:br/>
            <a:r>
              <a:t>4°C on contact. No pump.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598" y="1645920"/>
            <a:ext cx="32918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598" y="1700784"/>
            <a:ext cx="3291840" cy="38404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8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8C00"/>
                </a:solidFill>
                <a:latin typeface="Calibri"/>
              </a:defRPr>
            </a:pPr>
            <a:r>
              <a:t>Recover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8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BBBCC"/>
                </a:solidFill>
                <a:latin typeface="Calibri"/>
              </a:defRPr>
            </a:pPr>
            <a:r>
              <a:t>BETWEEN RUSHES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8" y="292608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0F0F5"/>
                </a:solidFill>
                <a:latin typeface="Calibri"/>
              </a:defRPr>
            </a:pPr>
            <a:r>
              <a:t>Compressor recharges the PCM.</a:t>
            </a:r>
            <a:br/>
            <a:r>
              <a:t>33 min for full 5L recharge.</a:t>
            </a:r>
            <a:br/>
            <a:r>
              <a:t>Partial recharge much faster.</a:t>
            </a:r>
            <a:br/>
            <a:r>
              <a:t>50-min school period = full reset.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Latent heat stores 5-10x more energy per kg than sensible heat — enabling countertop form factor with 50-pour capacity.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Product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3474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691640"/>
            <a:ext cx="411480" cy="411480"/>
          </a:xfrm>
          <a:prstGeom prst="ellipse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Insulated Tank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Simple SS vessel</a:t>
            </a:r>
            <a:br/>
            <a:r>
              <a:t>Holds water at rest</a:t>
            </a:r>
            <a:br/>
            <a:r>
              <a:t>Open top, sealed by cover</a:t>
            </a:r>
            <a:br/>
            <a:r>
              <a:t>Serviceable — lift cover to clean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840480"/>
            <a:ext cx="3017520" cy="9144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886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No pressure rating needed</a:t>
            </a:r>
            <a:br/>
            <a:r>
              <a:t>No embedded channels</a:t>
            </a:r>
            <a:br/>
            <a:r>
              <a:t>Food-grade stainless steel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463040"/>
            <a:ext cx="3291840" cy="3474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291840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63439" y="1691640"/>
            <a:ext cx="411480" cy="411480"/>
          </a:xfrm>
          <a:prstGeom prst="ellipse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9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Submerged Plate HX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286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Brazed SS plates with</a:t>
            </a:r>
            <a:br/>
            <a:r>
              <a:t>PCM coating (-5 to -10°C)</a:t>
            </a:r>
            <a:br/>
            <a:r>
              <a:t>Refrigerant channels freeze PCM</a:t>
            </a:r>
            <a:br/>
            <a:r>
              <a:t>Water channels chill on pour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19" y="3840480"/>
            <a:ext cx="3017520" cy="9144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3886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Standard component (Kaori, SWEP)</a:t>
            </a:r>
            <a:br/>
            <a:r>
              <a:t>Scales by plate count:</a:t>
            </a:r>
            <a:br/>
            <a:r>
              <a:t>4 plates = 5L  |  8 plates = 10L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463040"/>
            <a:ext cx="3291840" cy="34747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463040"/>
            <a:ext cx="3291840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12478" y="1691640"/>
            <a:ext cx="411480" cy="411480"/>
          </a:xfrm>
          <a:prstGeom prst="ellipse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8" y="16916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Cover / Manifold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18" y="2286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Routes all fluid connections:</a:t>
            </a:r>
            <a:br/>
            <a:r>
              <a:t>• Mains water in (top)</a:t>
            </a:r>
            <a:br/>
            <a:r>
              <a:t>• Chilled water out (to tap)</a:t>
            </a:r>
            <a:br/>
            <a:r>
              <a:t>• Refrigerant lines (to HX)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58" y="3840480"/>
            <a:ext cx="3017520" cy="914400"/>
          </a:xfrm>
          <a:prstGeom prst="rect">
            <a:avLst/>
          </a:prstGeom>
          <a:solidFill>
            <a:srgbClr val="18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03918" y="388620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4AA"/>
                </a:solidFill>
                <a:latin typeface="Calibri"/>
              </a:defRPr>
            </a:pPr>
            <a:r>
              <a:t>Only complex manufactured part</a:t>
            </a:r>
            <a:br/>
            <a:r>
              <a:t>Lifts off for full tank access</a:t>
            </a:r>
            <a:br/>
            <a:r>
              <a:t>Injection-molded + brazed fittings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Key design principle: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Water moves only when the tap is open (mains pressure driven). No circulation pump. The cover is the single point of service — lift it off, and the tank is accessible for cleaning. The HX comes out with the cover.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Inside ChillStream</a:t>
            </a:r>
          </a:p>
        </p:txBody>
      </p:sp>
      <p:pic>
        <p:nvPicPr>
          <p:cNvPr id="4" name="Picture 3" descr="unnam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280160"/>
            <a:ext cx="822960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Annotated cross-section — all major subsystems visible. Section references map to the system description document.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Fleet-First IoT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41148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4AA"/>
                </a:solidFill>
                <a:latin typeface="Calibri"/>
              </a:defRPr>
            </a:pPr>
            <a:r>
              <a:t>Fleet Dashboard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Real-time monitoring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Temperatures, capacity %, compressor state across all units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Usage analytics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Pours/day, peak times, demand vs. capacity — sizing recommendations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Predictive maintenance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Compressor anomaly detection, condenser fouling alerts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Filter management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Fleet-wide filter life tracking, replacement scheduling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OTA firmware updates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Staged rollout, automatic rollback, zero downtime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Remote commands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Reboot, config push, maintenance mode, diagnostics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1463040"/>
            <a:ext cx="4389120" cy="20116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1463040"/>
            <a:ext cx="4389120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6459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BF5"/>
                </a:solidFill>
                <a:latin typeface="Calibri"/>
              </a:defRPr>
            </a:pPr>
            <a:r>
              <a:t>On-Unit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0312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Cold capacity gauge (% remaining)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Live output temperature during pour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Filter life indicator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Recharge ETA when capacity is low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PIN-protected operator settings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840480"/>
            <a:ext cx="4389120" cy="20116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0" y="3840480"/>
            <a:ext cx="43891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402336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Calibri"/>
              </a:defRPr>
            </a:pPr>
            <a:r>
              <a:t>Connectivity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480560"/>
            <a:ext cx="3840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WiFi (ESP32-S3, built-in — $0 extra HW)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MQTT telemetry + HTTPS for OTA/config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TLS 1.3, X.509 device certificates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Works fully offline — buffers 7 days locally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• AP mode captive portal for setup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Schools (K-12)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130,000+ in the US alone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Peak demand at every bell — the hardest use case.</a:t>
            </a:r>
            <a:br/>
            <a:r>
              <a:t>Budget-sensitive. Fleet purchases by district.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00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$800-1,100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per unit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06040"/>
            <a:ext cx="10515600" cy="10972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Offices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~1M commercial offices in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Steady use with lunch/break clusters.</a:t>
            </a:r>
            <a:br/>
            <a:r>
              <a:t>Facility managers want zero-maintenance.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$600-900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per unit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77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Healthcare / Clinics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348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~230,000 medical offices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97764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Waiting rooms, staff areas.</a:t>
            </a:r>
            <a:br/>
            <a:r>
              <a:t>Hygiene and compliance matter.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069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$800-1,100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4480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per unit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74920"/>
            <a:ext cx="10515600" cy="109728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120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Calibri"/>
              </a:defRPr>
            </a:pPr>
            <a:r>
              <a:t>Hospitality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69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Hotels, coworking, airports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21208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High-visibility locations.</a:t>
            </a:r>
            <a:br/>
            <a:r>
              <a:t>Premium positioning possible.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303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$900-1,200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5715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per unit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4AA"/>
                </a:solidFill>
                <a:latin typeface="Calibri"/>
              </a:defRPr>
            </a:pPr>
            <a:r>
              <a:t>Entry point: Schools (hardest use case = best proof point) and offices (highest volume).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45720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5L MODEL — BOM BREAKDOWN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Cold assembly (tank + HX + cover + PCM)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D4AA"/>
                </a:solidFill>
                <a:latin typeface="Calibri"/>
              </a:defRPr>
            </a:pPr>
            <a:r>
              <a:t>$75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0116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Refrigeration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3774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009BF5"/>
                </a:solidFill>
                <a:latin typeface="Calibri"/>
              </a:defRPr>
            </a:pPr>
            <a:r>
              <a:t>$50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3774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432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Hot water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7432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BBBBCC"/>
                </a:solidFill>
                <a:latin typeface="Calibri"/>
              </a:defRPr>
            </a:pPr>
            <a:r>
              <a:t>$25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74320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Water path (valves, flow sensor, filter housing)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108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BBBBCC"/>
                </a:solidFill>
                <a:latin typeface="Calibri"/>
              </a:defRPr>
            </a:pPr>
            <a:r>
              <a:t>$20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1089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Electronics (ESP32, PCB, sensors, relays, PSU)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747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BBBBCC"/>
                </a:solidFill>
                <a:latin typeface="Calibri"/>
              </a:defRPr>
            </a:pPr>
            <a:r>
              <a:t>$25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4747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40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Display + 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8404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BBBBCC"/>
                </a:solidFill>
                <a:latin typeface="Calibri"/>
              </a:defRPr>
            </a:pPr>
            <a:r>
              <a:t>$15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8404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Enclosure + packaging + misc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BBBBCC"/>
                </a:solidFill>
                <a:latin typeface="Calibri"/>
              </a:defRPr>
            </a:pPr>
            <a:r>
              <a:t>$43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420624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17%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663440"/>
            <a:ext cx="4937760" cy="9144"/>
          </a:xfrm>
          <a:prstGeom prst="rect">
            <a:avLst/>
          </a:prstGeom>
          <a:solidFill>
            <a:srgbClr val="BB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Materials subtotal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73659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$253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566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Assembly + test + brazing + scrap (5%)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056632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BBBBCC"/>
                </a:solidFill>
                <a:latin typeface="Calibri"/>
              </a:defRPr>
            </a:pPr>
            <a:r>
              <a:t>$133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5422392"/>
            <a:ext cx="4937760" cy="914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4955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TOTAL COGS — 5L UNIT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06240" y="549554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$386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1371600"/>
            <a:ext cx="2286000" cy="25603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75120" y="1371600"/>
            <a:ext cx="2286000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5L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BF5"/>
                </a:solidFill>
                <a:latin typeface="Calibri"/>
              </a:defRPr>
            </a:pPr>
            <a:r>
              <a:t>$749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25603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COGS: $386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Gross margin: 48%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Offices, small clinics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1371600"/>
            <a:ext cx="2286000" cy="25603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1371600"/>
            <a:ext cx="2286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18320" y="15544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10L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20116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4AA"/>
                </a:solidFill>
                <a:latin typeface="Calibri"/>
              </a:defRPr>
            </a:pPr>
            <a:r>
              <a:t>$999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18320" y="256032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COGS: $442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Gross margin: 56%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Schools, large offices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675120" y="4206240"/>
            <a:ext cx="4846320" cy="128016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75120" y="4206240"/>
            <a:ext cx="484632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Filter Cartridge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47548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8C00"/>
                </a:solidFill>
                <a:latin typeface="Calibri"/>
              </a:defRPr>
            </a:pPr>
            <a:r>
              <a:t>$20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35440" y="438912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COGS: $6  |  Margin: 70%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2-3 replacements/year per unit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NFC tag for auto lifecycle tracking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00D4AA"/>
                </a:solidFill>
                <a:latin typeface="Calibri"/>
              </a:defRPr>
            </a:pPr>
            <a:r>
              <a:t>Proprietary twist-lock (recurring revenue)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Recurring Revenue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73152" cy="2743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Two recurring streams per unit: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200"/>
              </a:spcAft>
              <a:defRPr sz="2000" b="1">
                <a:solidFill>
                  <a:srgbClr val="FF8C00"/>
                </a:solidFill>
                <a:latin typeface="Calibri"/>
              </a:defRPr>
            </a:pPr>
            <a:r>
              <a:t>Filter cartridges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BBBBCC"/>
                </a:solidFill>
                <a:latin typeface="Calibri"/>
              </a:defRPr>
            </a:pPr>
            <a:r>
              <a:t>$20/cartridge × 2-3/year = $40-60/unit/year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70% gross margin. Proprietary twist-lock with NFC.</a:t>
            </a:r>
          </a:p>
          <a:p>
            <a:pPr algn="l">
              <a:spcBef>
                <a:spcPts val="1600"/>
              </a:spcBef>
              <a:spcAft>
                <a:spcPts val="200"/>
              </a:spcAft>
              <a:defRPr sz="2000" b="1">
                <a:solidFill>
                  <a:srgbClr val="FF8C00"/>
                </a:solidFill>
                <a:latin typeface="Calibri"/>
              </a:defRPr>
            </a:pPr>
            <a:r>
              <a:t>Cloud SaaS (optional)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BBBBCC"/>
                </a:solidFill>
                <a:latin typeface="Calibri"/>
              </a:defRPr>
            </a:pPr>
            <a:r>
              <a:t>$10/month/unit = $120/unit/year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400" b="0">
                <a:solidFill>
                  <a:srgbClr val="BBBBCC"/>
                </a:solidFill>
                <a:latin typeface="Calibri"/>
              </a:defRPr>
            </a:pPr>
            <a:r>
              <a:t>85% gross margin. Fleet dashboard, analytics, OTA.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Combined: $160-180/unit/year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371600"/>
            <a:ext cx="4846320" cy="45720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4173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ANNUAL RECURRING AT FLEET SCALE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011680"/>
            <a:ext cx="4846320" cy="502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08483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0848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$1,600-1,800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20848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Single site (small office building)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606040"/>
            <a:ext cx="4846320" cy="50292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67919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50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7919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$8,000-9,000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0" y="26791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School district or multi-floor office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75120" y="3200400"/>
            <a:ext cx="4846320" cy="502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27355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100 units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2735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$16,000-18,000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2735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Regional facility operator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3794760"/>
            <a:ext cx="4846320" cy="502920"/>
          </a:xfrm>
          <a:prstGeom prst="rect">
            <a:avLst/>
          </a:prstGeom>
          <a:solidFill>
            <a:srgbClr val="1E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386791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500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679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$80,000-90,000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867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National FM company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389120"/>
            <a:ext cx="4846320" cy="5029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0" y="4462272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1,000 units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4622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00"/>
                </a:solidFill>
                <a:latin typeface="Calibri"/>
              </a:defRPr>
            </a:pPr>
            <a:r>
              <a:t>$160,000-180,000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4622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Enterprise account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69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Hardware is the door opener. Recurring revenue is the business model.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500" b="0">
                <a:solidFill>
                  <a:srgbClr val="BBBBCC"/>
                </a:solidFill>
                <a:latin typeface="Calibri"/>
              </a:defRPr>
            </a:pPr>
            <a:r>
              <a:t>At 1,000 deployed units, annual recurring exceeds initial hardware revenue within 12-18 months of fleet buildout.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Why ChillStream Wins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73152" cy="77724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F5"/>
                </a:solidFill>
                <a:latin typeface="Calibri"/>
              </a:defRPr>
            </a:pPr>
            <a:r>
              <a:t>Physics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3716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Latent heat stores 5-10x more energy than sensible heat per kg. A 3 kg PCM mass replaces a 15-20L cold water tank. This is why we fit in a countertop form factor.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73152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No moving parts in the water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774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No pump, no circulator. Water moves on mains pressure only. Fewer failure modes. Lower cost. Silent during dispense.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429000"/>
            <a:ext cx="73152" cy="777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Calibri"/>
              </a:defRPr>
            </a:pPr>
            <a:r>
              <a:t>Standard components, novel assembly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383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The plate HX is off-the-shelf (Kaori, SWEP). The compressor is catalog (Secop, Embraco). The tank is a simple vessel. The innovation is in the assembly and the PCM coating — not in reinventing the parts.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434840"/>
            <a:ext cx="73152" cy="77724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BF5"/>
                </a:solidFill>
                <a:latin typeface="Calibri"/>
              </a:defRPr>
            </a:pPr>
            <a:r>
              <a:t>Fleet-first IoT from day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3891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Built for operators managing 10-1,000 units. Not a consumer gadget with an app bolted on. Predictive maintenance, sizing recommendations, OTA updates, compliance reporting.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40680"/>
            <a:ext cx="73152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AA"/>
                </a:solidFill>
                <a:latin typeface="Calibri"/>
              </a:defRPr>
            </a:pPr>
            <a:r>
              <a:t>Recurring revenue built into the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539496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  <a:latin typeface="Calibri"/>
              </a:defRPr>
            </a:pPr>
            <a:r>
              <a:t>Proprietary filter with NFC lifecycle tracking. Cloud SaaS for fleet management. Combined: $160-180/unit/year at 70-85% margin.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 &amp; Key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943600" cy="45720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18-MONTH DEVELOPMENT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914400" cy="41148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M1-M3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PCM + HX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0116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Material selection, thermal simulation, bench prototype of submerged plate HX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914400" cy="411480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97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M4-M6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Full functional prototype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5176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Complete unit: cold + hot + electronics + display + WiFi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91840"/>
            <a:ext cx="9144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37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M7-M9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2918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EVT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9184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Engineering validation. Performance testing. Begin certification.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9144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M10-M12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3931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DVT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93192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Design validation. Reliability testing. 10,000-cycle PCM test.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572000"/>
            <a:ext cx="9144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M13-M14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Pilot fleet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57200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5-10 units deployed in real schools and offices. Field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212080"/>
            <a:ext cx="914400" cy="4114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M15-M18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120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PVT →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212080"/>
            <a:ext cx="2926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Manufacturing validation. Certification complete. Ship.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1371600"/>
            <a:ext cx="4389120" cy="457200"/>
          </a:xfrm>
          <a:prstGeom prst="rect">
            <a:avLst/>
          </a:prstGeom>
          <a:solidFill>
            <a:srgbClr val="FF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0" y="14173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TOP RISKS &amp; MITIGATIONS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2011680"/>
            <a:ext cx="438912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208483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PCM encapsulation durability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39572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Can coated plates survive 10,000+ freeze-thaw cycles? → Material science partnership + accelerated life test by M3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3108960"/>
            <a:ext cx="438912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318211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HX thermal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49300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Can 4 plates achieve 25°C→4°C at 1 L/min? → Thermal simulation + bench prototype by M3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32320" y="4206240"/>
            <a:ext cx="438912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0" y="427939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Cover manifold complexity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459028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Single part routes water + refrigerant + sensors. → Industrial design + mechanical prototype by M4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5303520"/>
            <a:ext cx="4389120" cy="91440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0" y="537667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545"/>
                </a:solidFill>
                <a:latin typeface="Calibri"/>
              </a:defRPr>
            </a:pPr>
            <a:r>
              <a:t>Mineral fouling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5687568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HX plates always submerged in water. → Upstream filter + descaling protocol + accelerated fouling 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4389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009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BF5"/>
                </a:solidFill>
                <a:latin typeface="Calibri"/>
              </a:defRPr>
            </a:pPr>
            <a:r>
              <a:t>Phase 1: Prove the Physics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M1-M6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9BF5"/>
                </a:solidFill>
                <a:latin typeface="Calibri"/>
              </a:defRPr>
            </a:pPr>
            <a:r>
              <a:t>$250K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606040"/>
            <a:ext cx="29260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PCM material selection and encapsulation testing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Submerged plate HX thermal prototype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Cover manifold mechanical prototype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Full functional prototype (1 unit)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Thermal performance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291840" cy="4389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29184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54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AA"/>
                </a:solidFill>
                <a:latin typeface="Calibri"/>
              </a:defRPr>
            </a:pPr>
            <a:r>
              <a:t>Phase 2: Validate the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M7-M14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00D4AA"/>
                </a:solidFill>
                <a:latin typeface="Calibri"/>
              </a:defRPr>
            </a:pPr>
            <a:r>
              <a:t>$400K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39" y="2606040"/>
            <a:ext cx="29260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59" y="27432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EVT + DVT (10-20 units)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Certification (UL, NSF, FCC/CE)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IoT platform development (dashboard, OTA)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Pilot fleet: 5-10 units in real deployments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Field data collection and iteration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371600"/>
            <a:ext cx="3291840" cy="438912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371600"/>
            <a:ext cx="3291840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198" y="155448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Calibri"/>
              </a:defRPr>
            </a:pPr>
            <a:r>
              <a:t>Phase 3: Scale to Market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198" y="2103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  <a:latin typeface="Calibri"/>
              </a:defRPr>
            </a:pPr>
            <a:r>
              <a:t>M15-M18+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398" y="2103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FF8C00"/>
                </a:solidFill>
                <a:latin typeface="Calibri"/>
              </a:defRPr>
            </a:pPr>
            <a:r>
              <a:t>$350K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78" y="2606040"/>
            <a:ext cx="292608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198" y="274320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PVT and production tooling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Manufacturing line setup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First 500-unit production run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Sales team and channel partnerships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>
                <a:solidFill>
                  <a:srgbClr val="BBBBCC"/>
                </a:solidFill>
                <a:latin typeface="Calibri"/>
              </a:defRPr>
            </a:pPr>
            <a:r>
              <a:t>Launch marketing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943600"/>
            <a:ext cx="10515600" cy="640080"/>
          </a:xfrm>
          <a:prstGeom prst="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5943600"/>
            <a:ext cx="1051560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6035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Total investment to production: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59893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600" b="1">
                <a:solidFill>
                  <a:srgbClr val="00D4AA"/>
                </a:solidFill>
                <a:latin typeface="Calibri"/>
              </a:defRPr>
            </a:pPr>
            <a:r>
              <a:t>$1M over 18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