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Helvetica"/>
              </a:defRPr>
            </a:pPr>
            <a:r>
              <a:t>Bubbler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28016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78"/>
                </a:solidFill>
                <a:latin typeface="Helvetica"/>
              </a:defRPr>
            </a:pPr>
            <a:r>
              <a:t>Big bubbles. Zero 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An automated soap bubble machine that produces giant bubbles up to 500 mm using force-curve feedback. No app, no cloud -- just press power and watch.</a:t>
            </a:r>
          </a:p>
        </p:txBody>
      </p:sp>
      <p:pic>
        <p:nvPicPr>
          <p:cNvPr id="7" name="Picture 6" descr="arrangement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0"/>
            <a:ext cx="61264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8252460"/>
            <a:ext cx="6858000" cy="3200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29818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Product Overview  |  Concept Stage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12648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Helvetica"/>
              </a:defRPr>
            </a:pPr>
            <a:r>
              <a:t>Large bubbles are hard to produce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Giant soap bubbles (200-500 mm) require precise airflow control, correct dip timing, and film that survives rotation. Manual technique is inconsistent and takes practice to learn.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752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61264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Helvetica"/>
              </a:defRPr>
            </a:pPr>
            <a:r>
              <a:t>Existing machines make only small bubbles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Consumer bubble machines produce 20-50 mm bubbles with high pop rates and no adaptation. They blow hard, pop fast, and waste soap. No feedback loop means no improvement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983479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61264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Helvetica"/>
              </a:defRPr>
            </a:pPr>
            <a:r>
              <a:t>Gap between cheap toys and pro gear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39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Toy machines cost $10-30 but produce tiny bubbles. Professional stage equipment costs $200+ and needs power outlets. Nothing in between serves families, performers, and outdoor events well.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7040880"/>
            <a:ext cx="61264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71323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Helvetica"/>
              </a:defRPr>
            </a:pPr>
            <a:r>
              <a:t>TARGET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40664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Families  |  Performers  |  Event organizers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7726679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Outdoor parties  |  Buskers  |  Kids' entertainment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F5"/>
                </a:solidFill>
                <a:latin typeface="Helvetica"/>
              </a:defRPr>
            </a:pPr>
            <a:r>
              <a:t>1. Fill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Fill vat with soap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Pour bubble solution into the built-in vat. Standard dish soap mix works. The wand loop sits submerged, ready to dip.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78"/>
                </a:solidFill>
                <a:latin typeface="Helvetica"/>
              </a:defRPr>
            </a:pPr>
            <a:r>
              <a:t>2. 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Press power -- wand dips into vat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Single button press starts the cycle. The motor arm dips the wand loop into the soap solution, coating it with a thin film.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57200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Helvetica"/>
              </a:defRPr>
            </a:pPr>
            <a:r>
              <a:t>3. Inflate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Arm rotates up, fan gently inflates film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The arm rotates 175 degrees upward. A DC fan blows a controlled ramp of air through the soap film, inflating it into a large bubble.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355079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Helvetica"/>
              </a:defRPr>
            </a:pPr>
            <a:r>
              <a:t>4. 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5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Force sensing optimizes each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7086599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A strain gauge on the wand arm measures 50-200 mN during inflation. Firmware classifies each outcome and auto-adjusts fan speed, dip duration, and blow ramp. Converges in 5-10 cycles.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10058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Helvetica"/>
              </a:defRPr>
            </a:pPr>
            <a:r>
              <a:t>Sensing Signal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Strain gauge --&gt; HX711 ADC --&gt; STM32 MCU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50-200 mN force       24-bit 10-80 Hz       hill-climbing optimizer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488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Actuation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STM32 --&gt; Motor H-bridge (dip/rotate) + Fan PWM (inflate)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6126480" cy="2743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Helvetica"/>
              </a:defRPr>
            </a:pPr>
            <a:r>
              <a:t>KEY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7472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54864" cy="50292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021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MCU (STM32)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307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Bare-metal firmware, hill-climbing on 5 parameters, no app/cloud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6908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54864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Strain Gauge + HX711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2511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Force-curve feedback at 10-80 Hz, cycle outcome classification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66344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54864" cy="50292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DC Motor + H-bridge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1947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Wand dip and 175-degree arm rotation, bidirectional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25780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257800"/>
            <a:ext cx="54864" cy="50292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28523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DC Fan + MOSFET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1383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PWM-controlled airflow ramp for gentle bubble inflation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85216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852160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87959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Power (4xAA batteries)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0819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~7 hr runtime, simple replacement, no charging needed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44652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6446520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Enclosure (IPX4)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7025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215x206 mm footprint, ~250 mm height, splash-resistant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7086600"/>
            <a:ext cx="6126480" cy="109728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71323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Helvetica"/>
              </a:defRPr>
            </a:pPr>
            <a:r>
              <a:t>Component Arrangement</a:t>
            </a:r>
          </a:p>
        </p:txBody>
      </p:sp>
      <p:pic>
        <p:nvPicPr>
          <p:cNvPr id="40" name="Picture 39" descr="arrangement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406640"/>
            <a:ext cx="5852160" cy="685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Key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Helvetica"/>
              </a:defRPr>
            </a:pPr>
            <a:r>
              <a:t>Force-curve feedback: the strain gauge on the wand arm turns every inflation cycle into a learning opportunity.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126480" cy="54864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78"/>
                </a:solidFill>
                <a:latin typeface="Helvetica"/>
              </a:defRPr>
            </a:pPr>
            <a:r>
              <a:t>What It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Helvetica"/>
              </a:defRPr>
            </a:pPr>
            <a:r>
              <a:t>Force: 50-200 mN during inflation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Helvetica"/>
              </a:defRPr>
            </a:pPr>
            <a:r>
              <a:t>Sample rate: 10-80 Hz via HX711 ADC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Helvetica"/>
              </a:defRPr>
            </a:pPr>
            <a:r>
              <a:t>Resolution: sub-mN with 24-bit ADC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91840"/>
            <a:ext cx="612648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6126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Helvetica"/>
              </a:defRPr>
            </a:pPr>
            <a:r>
              <a:t>Cycle Outcome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C978"/>
                </a:solidFill>
                <a:latin typeface="Helvetica"/>
              </a:defRPr>
            </a:pPr>
            <a:r>
              <a:t>Success: Bubble detaches cleanly -- force drops to baseline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4545"/>
                </a:solidFill>
                <a:latin typeface="Helvetica"/>
              </a:defRPr>
            </a:pPr>
            <a:r>
              <a:t>Pop: Sudden force spike then zero -- film burst mid-inflation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8C00"/>
                </a:solidFill>
                <a:latin typeface="Helvetica"/>
              </a:defRPr>
            </a:pPr>
            <a:r>
              <a:t>No film: Near-zero force throughout -- dip failed to coat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009BF5"/>
                </a:solidFill>
                <a:latin typeface="Helvetica"/>
              </a:defRPr>
            </a:pPr>
            <a:r>
              <a:t>Partial: Force plateau then slow decay -- bubble formed but small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577840"/>
            <a:ext cx="6126480" cy="25603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Helvetica"/>
              </a:defRPr>
            </a:pPr>
            <a:r>
              <a:t>Hill-Climbing Optimizer (5 parameters)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Fan speed ramp: PWM duty cycle profile during inflation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Dip duration: How long the wand stays in the soap vat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Blow ramp rate: How quickly airflow increases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Rotation speed: Arm angular velocity during lift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Pause duration: Wait time between dip and blow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Helvetica"/>
              </a:defRPr>
            </a:pPr>
          </a:p>
          <a:p>
            <a:pPr algn="l">
              <a:spcBef>
                <a:spcPts val="400"/>
              </a:spcBef>
              <a:defRPr sz="1000" b="1">
                <a:solidFill>
                  <a:srgbClr val="4EC978"/>
                </a:solidFill>
                <a:latin typeface="Helvetica"/>
              </a:defRPr>
            </a:pPr>
            <a:r>
              <a:t>Converges in 5-10 cycles to local optimum for current conditions.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Constraints &amp; BOM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Bubble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Wand loop geometry + controlled airflow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Up to 500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Battery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Low-power MCU, motor duty-cycled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~7 hrs (4xAA)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9456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Footprint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Compact enough for a tabletop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4028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215 x 206 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8892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Operating temp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Soap film physics limit the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5-40 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8328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29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Wind tolerance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Fan ramp compensation 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4 kph crosswind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77639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2335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Electronics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5195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Splash-resistant enclosure for outdoor 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23359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IPX4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61264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8006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BOM ESTIMATE (~$12.80 total)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5074920"/>
            <a:ext cx="5980176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023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STM32 MCU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0235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$1.50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5394959"/>
            <a:ext cx="5980176" cy="25603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42239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Strain gauge + HX711 ADC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22391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$0.80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715000"/>
            <a:ext cx="5980176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424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DC motor + H-bridge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4243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$1.80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6035040"/>
            <a:ext cx="5980176" cy="25603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0624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DC fan + MOSFET driver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06247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$1.10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355079"/>
            <a:ext cx="5980176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3825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Enclosure (molded plastic)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382511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$3.50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6675120"/>
            <a:ext cx="5980176" cy="25603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Wand + loop + shaft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70255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$1.50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" y="6995159"/>
            <a:ext cx="5980176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702259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Misc (PCB, connectors, passives)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7022591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$2.60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7360920"/>
            <a:ext cx="5980176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73792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Total BOM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737920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~$12.80  |  Target retail: sub-$50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77724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4xAA batteries not included in BOM. No app, no cloud -- keeps ongoing costs at zero.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Hardest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1. Film survival during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The soap film must survive a 175-degree arm rotation from the vat to the blow position without breaking. Film thickness, rotation speed, and acceleration profile all matter. Too fast and the film tears from inertia; too slow and it drains and thins. Requires empirical tuning of the motor ramp curve.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2. Force-curve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Classifying cycle outcomes (success, pop, no-film, partial) from noisy strain gauge signals at 10-80 Hz. The HX711 output includes mechanical vibration, motor coupling, and wind noise. Signal conditioning and threshold-based classification must be reliable enough for the hill-climbing optimizer to converge.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440679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7783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3. Wind compensation at 4 kph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599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Outdoor use means crosswind. A 4 kph breeze changes the effective airflow through the soap film, shifting optimal fan speed and blow duration. The optimizer must detect wind-induced pop patterns and compensate within a few cycles. No wind sensor -- inferred from force-curve anomalies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7680960"/>
            <a:ext cx="6126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772667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Helvetica"/>
              </a:defRPr>
            </a:pPr>
            <a:r>
              <a:t>All three require physical prototyping. Soap film behavior cannot be fully simulated -- build, measure, iterate.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Gate Result &amp;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828800" cy="54864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GATE: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Helvetica"/>
              </a:defRPr>
            </a:pPr>
            <a:r>
              <a:t>62 pass / 23 N/A / 3 minor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1704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System description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Ready to proceed to PRD.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Helvetica"/>
              </a:defRPr>
            </a:pPr>
            <a:r>
              <a:t>KEY 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Bubbles up to 500 mm  |  4xAA (~7 hr)  |  215x206 mm footprint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231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~250 mm height  |  IPX4  |  5-40 C  |  BOM ~$12.80  |  Sub-$50 retail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6126480" cy="64008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803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Helvetica"/>
              </a:defRPr>
            </a:pPr>
            <a:r>
              <a:t>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Strain gauge + HX711 + STM32  |  Bare-metal FW  |  No app, no cloud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612648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947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3 MINOR GAPS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14800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788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Gap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7880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FW versioning scheme not yet defined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544568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085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Gap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0857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Decision consequences formatting incomplete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974336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3834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Gap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0383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Schedule milestones need 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86400"/>
            <a:ext cx="61264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57784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WHAT'S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5216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- Build functional prototype with off-the-shelf motor, fan, and HX711 breakout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- Validate soap film survival during arm rotation (175 deg)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- Test force-curve classification accuracy across soap formulations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- Measure wind compensation convergence at 4 kph crosswind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- Confirm 4xAA battery life target with real duty cycles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7726679"/>
            <a:ext cx="6126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7772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Next step: build the mechanical prototype. Validate film survival, force sensing, and the optimization loop before committing to PCB.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